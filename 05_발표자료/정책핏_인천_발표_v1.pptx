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2B3C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A2B3C"/>
                </a:solidFill>
                <a:latin typeface="Arial"/>
              </a:rPr>
              <a:t>정답셋이 프롬프트를 개선시켰다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필드 추출 정확도</c:v>
                </c:pt>
              </c:strCache>
            </c:strRef>
          </c:tx>
          <c:spPr>
            <a:solidFill>
              <a:srgbClr val="0E5A8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B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v2</c:v>
                  </c:pt>
                  <c:pt idx="1">
                    <c:v>v3</c:v>
                  </c:pt>
                  <c:pt idx="2">
                    <c:v>v4</c:v>
                  </c:pt>
                  <c:pt idx="3">
                    <c:v>v6 최종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</c:v>
                </c:pt>
                <c:pt idx="1">
                  <c:v>92</c:v>
                </c:pt>
                <c:pt idx="2">
                  <c:v>92</c:v>
                </c:pt>
                <c:pt idx="3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2B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B3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A8F9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시연 실패 대비 녹화 백업 준비. 화면에 실데이터/가상 라벨 상시 노출.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정책핏 인천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유사·중복 검토를 전화 협의 없이 한 화면에서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정책 그래프가 후보를 찾고, 판단은 사람이 합니다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3566160"/>
            <a:ext cx="1143000" cy="402336"/>
          </a:xfrm>
          <a:prstGeom prst="rect">
            <a:avLst/>
          </a:prstGeom>
          <a:solidFill>
            <a:srgbClr val="1A2B3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360273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교육훈련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773936" y="361188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65960" y="3566160"/>
            <a:ext cx="1143000" cy="402336"/>
          </a:xfrm>
          <a:prstGeom prst="rect">
            <a:avLst/>
          </a:prstGeom>
          <a:solidFill>
            <a:srgbClr val="1A2B3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65960" y="360273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일경험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099816" y="361188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3566160"/>
            <a:ext cx="1143000" cy="402336"/>
          </a:xfrm>
          <a:prstGeom prst="rect">
            <a:avLst/>
          </a:prstGeom>
          <a:solidFill>
            <a:srgbClr val="1A2B3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0" y="360273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구직지원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25696" y="361188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17720" y="3566160"/>
            <a:ext cx="1143000" cy="402336"/>
          </a:xfrm>
          <a:prstGeom prst="rect">
            <a:avLst/>
          </a:prstGeom>
          <a:solidFill>
            <a:srgbClr val="1A2B3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360273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매칭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751576" y="361188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0" y="3566160"/>
            <a:ext cx="1143000" cy="402336"/>
          </a:xfrm>
          <a:prstGeom prst="rect">
            <a:avLst/>
          </a:prstGeom>
          <a:solidFill>
            <a:srgbClr val="1A2B3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360273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채용지원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077456" y="361188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269480" y="3566160"/>
            <a:ext cx="1143000" cy="402336"/>
          </a:xfrm>
          <a:prstGeom prst="rect">
            <a:avLst/>
          </a:prstGeom>
          <a:solidFill>
            <a:srgbClr val="1A2B3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69480" y="360273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정착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0080" y="44805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인천대 × 울산대 초광역 해커톤 · 주제 I3 · 2026-08-14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청년 유출은 앱 하나로 풀리는 문제가 아니다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확인해 보니, 통념과 데이터가 달랐습니다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931920" cy="2286000"/>
          </a:xfrm>
          <a:prstGeom prst="roundRect">
            <a:avLst>
              <a:gd name="adj" fmla="val 2400"/>
            </a:avLst>
          </a:prstGeom>
          <a:solidFill>
            <a:srgbClr val="E8F0F6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63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통념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"청년이 인천을 떠난다"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매칭 플랫폼을 만들면 될까?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754880" y="1280160"/>
            <a:ext cx="393192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9050">
            <a:solidFill>
              <a:srgbClr val="C75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0" y="1463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확인된 사실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0" y="1874520"/>
            <a:ext cx="3383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 인천 순유입률 1.1% — 전국 1위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연령대 순유입은 인천이 유일 (주소 기준)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청년 32.8%는 직장이 관외에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역외취업 사유 1위: "원하는 직무의 일자리 부재" 33.6%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3794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통계청 2025 국내인구이동통계(A급, E005) · 인천연구원 MZ-X세대 일자리 전략 연구, 청년 2,000명 실태조사(A급, E006)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우리는 "바꿀 수 없는 것" 대신 "바꿀 수 있는 것"을 찾았습니다 →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바꿀 수 있는 것: 정책 결정의 품질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I3의 두 축 중 '산업·정책 연계 부족'을 직접 타겟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65960" cy="1417320"/>
          </a:xfrm>
          <a:prstGeom prst="roundRect">
            <a:avLst>
              <a:gd name="adj" fmla="val 3226"/>
            </a:avLst>
          </a:prstGeom>
          <a:solidFill>
            <a:srgbClr val="E8F0F6"/>
          </a:solidFill>
          <a:ln w="15240">
            <a:solidFill>
              <a:srgbClr val="0E5A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4173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정책핏의 직접효과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66928" y="18745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완전성 · 검토속도 · 누락탐지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23957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귀속: 높음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404872" y="17830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606040" y="1325880"/>
            <a:ext cx="1965960" cy="1417320"/>
          </a:xfrm>
          <a:prstGeom prst="roundRect">
            <a:avLst>
              <a:gd name="adj" fmla="val 3226"/>
            </a:avLst>
          </a:prstGeom>
          <a:solidFill>
            <a:srgbClr val="E8F0F6"/>
          </a:solidFill>
          <a:ln w="15240">
            <a:solidFill>
              <a:srgbClr val="0E5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15768" y="14173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 중간효과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715768" y="18745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보완·연결·통합, 예산조정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715768" y="23957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53712" y="17830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754880" y="1325880"/>
            <a:ext cx="196596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5240">
            <a:solidFill>
              <a:srgbClr val="8A8F9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64608" y="14173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정책의 사업성과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864608" y="18745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 충원 · 취업·임금·근속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864608" y="23957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귀속하지 않음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02552" y="17830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903720" y="1325880"/>
            <a:ext cx="196596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5240">
            <a:solidFill>
              <a:srgbClr val="8A8F9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13448" y="14173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장기성과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013448" y="18745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산업생태계 · 청년 정착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013448" y="23957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귀속하지 않음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30632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인천의 결정은 대부분 기존사업 조정이다  </a:t>
            </a:r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제2차 청년정책 기본계획 69개 사업 중 계속·확대 85.5%, 교육·훈련 분야는 92.3% (인천 청년정책 포트폴리오 한정, E008·E010)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" y="3794760"/>
            <a:ext cx="8229600" cy="914400"/>
          </a:xfrm>
          <a:prstGeom prst="roundRect">
            <a:avLst>
              <a:gd name="adj" fmla="val 6000"/>
            </a:avLst>
          </a:prstGeom>
          <a:solidFill>
            <a:srgbClr val="1A2B3C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3904488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"연계 부족의 해법은 유사 사업을 하나 더 만드는 것이 아닐 가능성이 높습니다.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그러나 기존 사업을 실제로 이어 주는 권한·정보·인계장치는 새로 만들어야 할 수 있습니다."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도구는 정책을 '찾아주는' 도구다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정책을 '만드는 사람'의 유사·중복 검토를 돕는 도구는 확인되지 않았다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온통청년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기업마당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인천청년포털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5A8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정책핏 인천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 사용자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청년 구직자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중소기업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청년 구직자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공무원 (검토 3단계)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기능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검색·안내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지원사업 공고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 안내·신청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관계 판정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사이 관계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(중복·공백·인계)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5A8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 4종 + 그래프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검토서 산출물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5A8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검토서 초안 생성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 포털 2026-08-13 실접속 확인 완료 (A급, 증거원장 E017~E019) · 확인 범위: 공개 메뉴 기준 — 발견: 정책 간 조정은 현재 위원회 심의(사람 절차)로만 존재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하는 일과 하지 않는 일을 분리했다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흩어진 사업을 같은 구조로 정규화하면, 안 보이던 관계가 보인다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5176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9050">
            <a:solidFill>
              <a:srgbClr val="0E5A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444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— 추출만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94360" y="18288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→ 정책카드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기권 계약: 없는 필드는 '모름'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인용은 원문 그대로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91840" y="1325880"/>
            <a:ext cx="265176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9050">
            <a:solidFill>
              <a:srgbClr val="1E7F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1444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7F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— 판정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429000" y="18288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공백 · 인계 공백 · 조정 필요 중복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의도적 병행 (Cypher/파이썬)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detect.py에 import openai 없음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26480" y="1325880"/>
            <a:ext cx="265176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9050">
            <a:solidFill>
              <a:srgbClr val="C75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63640" y="1444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— 결정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263640" y="18288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판정은 '후보'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검토서 초안 → 담당자 확정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 협의로만 확정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규칙만으로 안 되나 — </a:t>
            </a:r>
            <a:pPr indent="0" marL="0">
              <a:buNone/>
            </a:pPr>
            <a:r>
              <a:rPr lang="en-US" sz="12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비정형 원문을 카드로 정규화하는 일은 규칙이 못 한다.  </a:t>
            </a:r>
            <a:pPr indent="0" marL="0">
              <a:buNone/>
            </a:pPr>
            <a:r>
              <a:rPr lang="en-US" sz="12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LLM만으로 안 되나 — </a:t>
            </a:r>
            <a:pPr indent="0" marL="0">
              <a:buNone/>
            </a:pPr>
            <a:r>
              <a:rPr lang="en-US" sz="12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 부서 사업에 '중복' 낙인을 찍는 판정을 확률 모델에 맡길 수 없다.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6316"/>
            </a:avLst>
          </a:prstGeom>
          <a:solidFill>
            <a:srgbClr val="E8F0F6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041648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금지 목록 (화면에 노출):  </a:t>
            </a:r>
            <a:pPr indent="0" marL="0">
              <a:buNone/>
            </a:pPr>
            <a:r>
              <a:rPr lang="en-US" sz="12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없는 사실 보완 · 정합성 점수 직접 생성 · 사업폐지/예산삭감 자동결정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 데모 — 150초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기준사업: 인천 청년도약기지 · 분석 범위를 산업 선택으로 확장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170432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1A2B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1170432" cy="54864"/>
          </a:xfrm>
          <a:prstGeom prst="rect">
            <a:avLst/>
          </a:prstGeom>
          <a:solidFill>
            <a:srgbClr val="C75000"/>
          </a:solidFill>
          <a:ln w="12700">
            <a:solidFill>
              <a:srgbClr val="C75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9903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교육훈련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609344" y="141732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828800" y="1325880"/>
            <a:ext cx="1170432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1A2B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8800" y="1325880"/>
            <a:ext cx="1170432" cy="54864"/>
          </a:xfrm>
          <a:prstGeom prst="rect">
            <a:avLst/>
          </a:prstGeom>
          <a:solidFill>
            <a:srgbClr val="0E5A8A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139903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일경험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980944" y="141732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0" y="1325880"/>
            <a:ext cx="1170432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1A2B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1325880"/>
            <a:ext cx="1170432" cy="54864"/>
          </a:xfrm>
          <a:prstGeom prst="rect">
            <a:avLst/>
          </a:prstGeom>
          <a:solidFill>
            <a:srgbClr val="0E5A8A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139903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구직지원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352544" y="141732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0" y="1325880"/>
            <a:ext cx="1170432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1A2B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0" y="1325880"/>
            <a:ext cx="1170432" cy="54864"/>
          </a:xfrm>
          <a:prstGeom prst="rect">
            <a:avLst/>
          </a:prstGeom>
          <a:solidFill>
            <a:srgbClr val="0E5A8A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0" y="139903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매칭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724144" y="141732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0" y="1325880"/>
            <a:ext cx="1170432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1A2B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0" y="1325880"/>
            <a:ext cx="1170432" cy="54864"/>
          </a:xfrm>
          <a:prstGeom prst="rect">
            <a:avLst/>
          </a:prstGeom>
          <a:solidFill>
            <a:srgbClr val="0E5A8A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39903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채용지원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095744" y="141732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0" y="1325880"/>
            <a:ext cx="1170432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8A8F98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7315200" y="1325880"/>
            <a:ext cx="1170432" cy="54864"/>
          </a:xfrm>
          <a:prstGeom prst="rect">
            <a:avLst/>
          </a:prstGeom>
          <a:solidFill>
            <a:srgbClr val="0E5A8A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0" y="139903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정착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57200" y="2148840"/>
            <a:ext cx="406908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222199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검토 개요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251460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4종 카운트 + 예산 달력 D-day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709160" y="2148840"/>
            <a:ext cx="4069080" cy="914400"/>
          </a:xfrm>
          <a:prstGeom prst="roundRect">
            <a:avLst>
              <a:gd name="adj" fmla="val 5000"/>
            </a:avLst>
          </a:prstGeom>
          <a:solidFill>
            <a:srgbClr val="E8F0F6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0" y="222199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정책 연계 지도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846320" y="251460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결재란 사슬 — 인계 없는 구간 ✂ 절단선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🔴 라이브: gpt-4o 원문 재추출 (실호출)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172968"/>
            <a:ext cx="406908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" y="324612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유사·중복 검토표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94360" y="3538728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직무 × 판정 + 실행된 Cypher 질의 노출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709160" y="3172968"/>
            <a:ext cx="406908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46320" y="324612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조치 제안서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846320" y="3538728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검토서 초안 다운로드 + 정확도 실측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57200" y="43159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점수를 만드는 두 장면 — </a:t>
            </a:r>
            <a:pPr indent="0" marL="0">
              <a:buNone/>
            </a:pPr>
            <a:r>
              <a:rPr lang="en-US" sz="12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"이건 중첩이지만 의도된 병행입니다" (유사 ≠ 낭비) · "새로 만들 필요가 낮은 것" (AI가 신규 제안만 뱉는 도구가 아님)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저희는 취업률을 올렸다고 말하지 않습니다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정답셋 16건 실측 — 2인 교차판정 전 잠정치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25880"/>
          <a:ext cx="384048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572000" y="1325880"/>
            <a:ext cx="41148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C750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709160" y="139903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89%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760720" y="139903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실재율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100%이 아닙니다 — 실측 그대로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0" y="2103120"/>
            <a:ext cx="41148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0E5A8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09160" y="217627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5760720" y="217627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기권 정확도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모르면 '모름'이라 말한 비율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572000" y="2880360"/>
            <a:ext cx="41148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1E7F4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709160" y="295351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F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5760720" y="295351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중첩 오판 회피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의도적 병행을 중복으로 안 몬 비율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검증하지 않은 것: </a:t>
            </a:r>
            <a:pPr indent="0" marL="0">
              <a:buNone/>
            </a:pPr>
            <a:r>
              <a:rPr lang="en-US" sz="12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취업·근속 증가 · 기업 매출 · 청년 순유출 감소 · 기관 도입 의향 — 3일 해커톤에서 증명할 수 없는 것은 주장하지 않는다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과정 결정로그 D-001~D-016 · 프롬프트 v2→v6 반복은 정답셋 실측으로 유도됨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한계를 먼저 말하고, 확장은 실물로 보였습니다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651760" y="123444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B6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공개데이터만으로 정책 인과효과는 증명 불가 → 기관 협약 후 익명 코호트로.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AEB6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사용 0 (설계상 금지). 수요신호 일부는 가상 표본 — 화면에 그대로 표기.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23774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보인 확장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651760" y="237744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 선택 → 정책 풀에서 관련 정책 자동 결합 (바이오 16건 실작동).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풀 갱신 = 스크립트 재실행 → 스케줄러에 걸면 백그라운드 업데이트.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35204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로드맵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651760" y="352044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6대 산업 전체 · 고용24 실수요 연동 · 자동 서칭 · Neo4j 수천 건 그래프.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사슬의 끝은 하나 — 정책이 이어져야 청년이 인천에 정착한다.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45720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정책핏 인천 — 판단은 사람이, 근거는 그래프가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2026-08-13T08:33:39Z</dcterms:created>
  <dcterms:modified xsi:type="dcterms:W3CDTF">2026-08-13T08:33:39Z</dcterms:modified>
</cp:coreProperties>
</file>